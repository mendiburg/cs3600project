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62" r:id="rId4"/>
    <p:sldId id="257" r:id="rId5"/>
    <p:sldId id="263" r:id="rId6"/>
    <p:sldId id="260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FF0211-600E-FF83-75BD-A1BDD0E28138}" v="547" dt="2026-03-03T19:35:42.314"/>
    <p1510:client id="{309E00C9-6FEA-EA36-E9EE-ECB0770500A6}" v="376" dt="2026-03-03T19:27:20.597"/>
    <p1510:client id="{A823BEBD-8A35-FBBF-1B38-4EE6CBD581C1}" v="1166" dt="2026-03-03T18:24:36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6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7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18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86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41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82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68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016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3955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983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dirty="0"/>
              <a:pPr algn="r"/>
              <a:t>3/5/2026</a:t>
            </a:fld>
            <a:endParaRPr lang="en-US" spc="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dirty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65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light-bulb-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 Erik Peavey, Gabriel Arizmendi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E318C37-E56B-7434-A727-53C0AAF7AB25}"/>
              </a:ext>
            </a:extLst>
          </p:cNvPr>
          <p:cNvSpPr txBox="1">
            <a:spLocks/>
          </p:cNvSpPr>
          <p:nvPr/>
        </p:nvSpPr>
        <p:spPr>
          <a:xfrm>
            <a:off x="849982" y="2309436"/>
            <a:ext cx="10268712" cy="15087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3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20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>
                <a:solidFill>
                  <a:schemeClr val="tx1"/>
                </a:solidFill>
              </a:rPr>
              <a:t>Database Project: Phase 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C977-8C53-35CB-7773-8FE52B2D0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Our initial concept for our project system is a hypothetical basic social media platform. Users can log onto the site using their Username and Password, and can create, like and reply to posts, and follow other users.</a:t>
            </a:r>
          </a:p>
          <a:p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2566D1B-05E7-881F-0EBD-84C34A2837BC}"/>
              </a:ext>
            </a:extLst>
          </p:cNvPr>
          <p:cNvSpPr txBox="1">
            <a:spLocks/>
          </p:cNvSpPr>
          <p:nvPr/>
        </p:nvSpPr>
        <p:spPr>
          <a:xfrm>
            <a:off x="1106117" y="676578"/>
            <a:ext cx="10364762" cy="12142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3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20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600"/>
              <a:t>System Concept</a:t>
            </a:r>
            <a:endParaRPr lang="en-US"/>
          </a:p>
        </p:txBody>
      </p:sp>
      <p:pic>
        <p:nvPicPr>
          <p:cNvPr id="9" name="Picture 8" descr="A light bulb with a black background&#10;&#10;AI-generated content may be incorrect.">
            <a:extLst>
              <a:ext uri="{FF2B5EF4-FFF2-40B4-BE49-F238E27FC236}">
                <a16:creationId xmlns:a16="http://schemas.microsoft.com/office/drawing/2014/main" id="{81B53FD4-1B61-628E-4ABA-788DBA7D7B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72536" y="117124"/>
            <a:ext cx="1538817" cy="201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74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7DBAB-F92C-7A23-6506-FC9A9C44B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87E09B6F-8D90-5B56-624E-AA8CFB82692E}"/>
              </a:ext>
            </a:extLst>
          </p:cNvPr>
          <p:cNvSpPr txBox="1">
            <a:spLocks/>
          </p:cNvSpPr>
          <p:nvPr/>
        </p:nvSpPr>
        <p:spPr>
          <a:xfrm>
            <a:off x="449950" y="655411"/>
            <a:ext cx="10364762" cy="12142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3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20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600"/>
              <a:t>Example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77AE1-8FA8-83ED-2366-45FDB3F26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120" y="3243919"/>
            <a:ext cx="2853324" cy="1491036"/>
          </a:xfrm>
          <a:solidFill>
            <a:schemeClr val="tx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This is a sample post for my social media demo!</a:t>
            </a:r>
            <a:endParaRPr lang="en-US" sz="1200">
              <a:solidFill>
                <a:schemeClr val="bg1">
                  <a:lumMod val="49000"/>
                </a:schemeClr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AD626AF-706B-627D-3880-37D5F41D63DC}"/>
              </a:ext>
            </a:extLst>
          </p:cNvPr>
          <p:cNvSpPr txBox="1">
            <a:spLocks/>
          </p:cNvSpPr>
          <p:nvPr/>
        </p:nvSpPr>
        <p:spPr>
          <a:xfrm>
            <a:off x="449298" y="4948541"/>
            <a:ext cx="2507602" cy="58792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</a:rPr>
              <a:t>This is a reply to the post</a:t>
            </a:r>
          </a:p>
          <a:p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from @other-user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119E7CC-24F4-01DB-2854-D66015512FB0}"/>
              </a:ext>
            </a:extLst>
          </p:cNvPr>
          <p:cNvSpPr txBox="1">
            <a:spLocks/>
          </p:cNvSpPr>
          <p:nvPr/>
        </p:nvSpPr>
        <p:spPr>
          <a:xfrm>
            <a:off x="449298" y="5752874"/>
            <a:ext cx="2507602" cy="587926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</a:rPr>
              <a:t>This is a reply to the post... 2!</a:t>
            </a:r>
          </a:p>
          <a:p>
            <a:r>
              <a:rPr lang="en-US" sz="1200">
                <a:solidFill>
                  <a:schemeClr val="bg1">
                    <a:lumMod val="85000"/>
                  </a:schemeClr>
                </a:solidFill>
              </a:rPr>
              <a:t>from @other-user</a:t>
            </a:r>
          </a:p>
        </p:txBody>
      </p:sp>
      <p:pic>
        <p:nvPicPr>
          <p:cNvPr id="10" name="Graphic 9" descr="Heart with solid fill">
            <a:extLst>
              <a:ext uri="{FF2B5EF4-FFF2-40B4-BE49-F238E27FC236}">
                <a16:creationId xmlns:a16="http://schemas.microsoft.com/office/drawing/2014/main" id="{99A16582-FDCD-1997-F9CC-419FCE1B7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5133" y="3246967"/>
            <a:ext cx="420512" cy="42051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324316F-E6A8-B9C1-1150-5EBE24C6A9FC}"/>
              </a:ext>
            </a:extLst>
          </p:cNvPr>
          <p:cNvSpPr txBox="1">
            <a:spLocks/>
          </p:cNvSpPr>
          <p:nvPr/>
        </p:nvSpPr>
        <p:spPr>
          <a:xfrm>
            <a:off x="3821853" y="3248153"/>
            <a:ext cx="814269" cy="4185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125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54D8A9C8-E245-BCB1-6EED-6F5E9B56E0D1}"/>
              </a:ext>
            </a:extLst>
          </p:cNvPr>
          <p:cNvSpPr txBox="1">
            <a:spLocks/>
          </p:cNvSpPr>
          <p:nvPr/>
        </p:nvSpPr>
        <p:spPr>
          <a:xfrm>
            <a:off x="3483186" y="3699709"/>
            <a:ext cx="1957269" cy="10253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/>
              <a:t>#sampletag</a:t>
            </a:r>
          </a:p>
          <a:p>
            <a:r>
              <a:rPr lang="en-US" sz="1200"/>
              <a:t>#other-sample-tag</a:t>
            </a:r>
          </a:p>
        </p:txBody>
      </p:sp>
      <p:pic>
        <p:nvPicPr>
          <p:cNvPr id="14" name="Picture 13" descr="Leere Profilbild Mysterium Mann · Kostenlose Vektorgrafik auf Pixabay">
            <a:extLst>
              <a:ext uri="{FF2B5EF4-FFF2-40B4-BE49-F238E27FC236}">
                <a16:creationId xmlns:a16="http://schemas.microsoft.com/office/drawing/2014/main" id="{145E8F7F-291E-4275-2DA8-73BA8CA17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33" y="2431344"/>
            <a:ext cx="661813" cy="704146"/>
          </a:xfrm>
          <a:prstGeom prst="rect">
            <a:avLst/>
          </a:prstGeom>
        </p:spPr>
      </p:pic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82225493-237F-1D90-F52B-B254777B5AF3}"/>
              </a:ext>
            </a:extLst>
          </p:cNvPr>
          <p:cNvSpPr txBox="1">
            <a:spLocks/>
          </p:cNvSpPr>
          <p:nvPr/>
        </p:nvSpPr>
        <p:spPr>
          <a:xfrm>
            <a:off x="1295964" y="2570820"/>
            <a:ext cx="2006657" cy="41859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From @user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8B281-01E7-C782-0694-BA1ED31F4398}"/>
              </a:ext>
            </a:extLst>
          </p:cNvPr>
          <p:cNvSpPr txBox="1">
            <a:spLocks/>
          </p:cNvSpPr>
          <p:nvPr/>
        </p:nvSpPr>
        <p:spPr>
          <a:xfrm>
            <a:off x="5717176" y="2413581"/>
            <a:ext cx="5881770" cy="36044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r>
              <a:rPr lang="en-US"/>
              <a:t>Posts can have tags which group them up with posts of a similar topic, and can additionally mention other users, which will notify them of the post. Posts also have a number ID used in the link, and keep track of the date they were created upon.</a:t>
            </a:r>
          </a:p>
        </p:txBody>
      </p:sp>
    </p:spTree>
    <p:extLst>
      <p:ext uri="{BB962C8B-B14F-4D97-AF65-F5344CB8AC3E}">
        <p14:creationId xmlns:p14="http://schemas.microsoft.com/office/powerpoint/2010/main" val="402480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group&#10;&#10;AI-generated content may be incorrect.">
            <a:extLst>
              <a:ext uri="{FF2B5EF4-FFF2-40B4-BE49-F238E27FC236}">
                <a16:creationId xmlns:a16="http://schemas.microsoft.com/office/drawing/2014/main" id="{6270E5D0-6447-75BC-42FF-BDFC535DE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31" y="1716100"/>
            <a:ext cx="7640366" cy="47064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18263A-D01A-DE6B-9FF1-AEB74D7E7562}"/>
              </a:ext>
            </a:extLst>
          </p:cNvPr>
          <p:cNvSpPr txBox="1"/>
          <p:nvPr/>
        </p:nvSpPr>
        <p:spPr>
          <a:xfrm>
            <a:off x="397008" y="54429"/>
            <a:ext cx="1121228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600"/>
          </a:p>
          <a:p>
            <a:r>
              <a:rPr lang="en-US" sz="3600"/>
              <a:t>ER Diagram</a:t>
            </a:r>
          </a:p>
        </p:txBody>
      </p:sp>
    </p:spTree>
    <p:extLst>
      <p:ext uri="{BB962C8B-B14F-4D97-AF65-F5344CB8AC3E}">
        <p14:creationId xmlns:p14="http://schemas.microsoft.com/office/powerpoint/2010/main" val="311320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A9D9-E5FD-AB18-2E34-DA6FB58F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2A727-9691-25DA-0512-E3160ED32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Some potential queries we will be implementing for our database:</a:t>
            </a:r>
          </a:p>
          <a:p>
            <a:pPr marL="457200" indent="-457200">
              <a:buChar char="•"/>
            </a:pPr>
            <a:r>
              <a:rPr lang="en-US"/>
              <a:t>"Following" tab: return posts of users that a given user is following all in chronological order for a feed-style display.</a:t>
            </a:r>
          </a:p>
          <a:p>
            <a:pPr marL="457200" indent="-457200">
              <a:buChar char="•"/>
            </a:pPr>
            <a:r>
              <a:rPr lang="en-US"/>
              <a:t>"Trending" tab: return most liked posts within a certain time threshold</a:t>
            </a:r>
          </a:p>
          <a:p>
            <a:pPr marL="457200" indent="-457200">
              <a:buChar char="•"/>
            </a:pPr>
            <a:r>
              <a:rPr lang="en-US"/>
              <a:t>"Friends": return list of mutual followers for a given user (list of users that the user is following that are following them back.)</a:t>
            </a:r>
          </a:p>
          <a:p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3F8D89C-FB92-DFEC-C36C-B0607ACF7528}"/>
              </a:ext>
            </a:extLst>
          </p:cNvPr>
          <p:cNvSpPr txBox="1">
            <a:spLocks/>
          </p:cNvSpPr>
          <p:nvPr/>
        </p:nvSpPr>
        <p:spPr>
          <a:xfrm>
            <a:off x="1106117" y="676578"/>
            <a:ext cx="10364762" cy="12142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3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20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600"/>
              <a:t>Queries</a:t>
            </a:r>
            <a:endParaRPr lang="en-US"/>
          </a:p>
        </p:txBody>
      </p:sp>
      <p:pic>
        <p:nvPicPr>
          <p:cNvPr id="2" name="Graphic 1" descr="Database with solid fill">
            <a:extLst>
              <a:ext uri="{FF2B5EF4-FFF2-40B4-BE49-F238E27FC236}">
                <a16:creationId xmlns:a16="http://schemas.microsoft.com/office/drawing/2014/main" id="{3A5C4FA9-5BEC-9792-6457-13C80A353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01944" y="272143"/>
            <a:ext cx="1730828" cy="171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08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6B665-0708-7F68-E2A5-3738FB6E9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For our frontend: HTML, CSS, JavaScript,</a:t>
            </a:r>
          </a:p>
          <a:p>
            <a:r>
              <a:rPr lang="en-US"/>
              <a:t>For our Vizualization: D3.js</a:t>
            </a:r>
          </a:p>
          <a:p>
            <a:r>
              <a:rPr lang="en-US"/>
              <a:t>For our backend: Python(flask) with MySQL-Connector-python,</a:t>
            </a:r>
          </a:p>
          <a:p>
            <a:r>
              <a:rPr lang="en-US"/>
              <a:t>For our database: MySQL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59FC59E-383E-FE41-F7A7-275E978054E3}"/>
              </a:ext>
            </a:extLst>
          </p:cNvPr>
          <p:cNvSpPr txBox="1">
            <a:spLocks/>
          </p:cNvSpPr>
          <p:nvPr/>
        </p:nvSpPr>
        <p:spPr>
          <a:xfrm>
            <a:off x="957949" y="655411"/>
            <a:ext cx="9856763" cy="12142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3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20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6600"/>
              <a:t>Technology Choice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58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F2C727-8D9C-F9C2-D7CF-ED158F4C68A8}"/>
              </a:ext>
            </a:extLst>
          </p:cNvPr>
          <p:cNvSpPr txBox="1"/>
          <p:nvPr/>
        </p:nvSpPr>
        <p:spPr>
          <a:xfrm>
            <a:off x="397008" y="54429"/>
            <a:ext cx="1121228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600"/>
          </a:p>
          <a:p>
            <a:r>
              <a:rPr lang="en-US" sz="3600"/>
              <a:t>Project Timeline 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99F9606-5F34-9294-F5A8-F01B86AABCFC}"/>
              </a:ext>
            </a:extLst>
          </p:cNvPr>
          <p:cNvSpPr txBox="1">
            <a:spLocks/>
          </p:cNvSpPr>
          <p:nvPr/>
        </p:nvSpPr>
        <p:spPr>
          <a:xfrm>
            <a:off x="501509" y="1716895"/>
            <a:ext cx="10727323" cy="44644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2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23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27432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Char char="§"/>
              <a:defRPr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94360" indent="0" algn="l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har char="•"/>
            </a:pPr>
            <a:r>
              <a:rPr lang="en-US" sz="2000"/>
              <a:t>3/3/26: Phase I Presentation. Complete initial conceptualization for project and the nodes needed for the database design. Set up GitHub repository</a:t>
            </a:r>
          </a:p>
          <a:p>
            <a:pPr marL="457200" indent="-457200">
              <a:buChar char="•"/>
            </a:pPr>
            <a:r>
              <a:rPr lang="en-US" sz="2000"/>
              <a:t>3/8/26: Finalize Phase I report</a:t>
            </a:r>
          </a:p>
          <a:p>
            <a:pPr marL="457200" indent="-457200">
              <a:buChar char="•"/>
            </a:pPr>
            <a:r>
              <a:rPr lang="en-US" sz="2000"/>
              <a:t>3/26/26: Phase II Presentation. Initial database backend draft and design completed</a:t>
            </a:r>
          </a:p>
          <a:p>
            <a:pPr marL="457200" indent="-457200">
              <a:buChar char="•"/>
            </a:pPr>
            <a:r>
              <a:rPr lang="en-US" sz="2000"/>
              <a:t>4/21/26: Phase III Presentation. Basic prototype for platform with basic, limited post and user account viewer frontend</a:t>
            </a:r>
          </a:p>
          <a:p>
            <a:pPr marL="457200" indent="-457200">
              <a:buChar char="•"/>
            </a:pPr>
            <a:r>
              <a:rPr lang="en-US" sz="2000"/>
              <a:t>5/7/46: Phase IV Presentation. Final demo of website and completed architecture w/ final report</a:t>
            </a:r>
          </a:p>
          <a:p>
            <a:pPr marL="457200" indent="-457200">
              <a:buChar char="•"/>
            </a:pPr>
            <a:endParaRPr lang="en-US" sz="2000"/>
          </a:p>
          <a:p>
            <a:pPr marL="457200" indent="-457200">
              <a:buChar char="•"/>
            </a:pPr>
            <a:endParaRPr lang="en-US"/>
          </a:p>
          <a:p>
            <a:pPr marL="457200" indent="-457200">
              <a:buChar char="•"/>
            </a:pPr>
            <a:endParaRPr lang="en-US"/>
          </a:p>
        </p:txBody>
      </p:sp>
      <p:pic>
        <p:nvPicPr>
          <p:cNvPr id="10" name="Graphic 9" descr="Clock outline">
            <a:extLst>
              <a:ext uri="{FF2B5EF4-FFF2-40B4-BE49-F238E27FC236}">
                <a16:creationId xmlns:a16="http://schemas.microsoft.com/office/drawing/2014/main" id="{F4F5D12B-C6DA-5CDC-26BA-6BC0B89C5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3689" y="410633"/>
            <a:ext cx="914400" cy="914400"/>
          </a:xfrm>
          <a:prstGeom prst="rect">
            <a:avLst/>
          </a:prstGeom>
        </p:spPr>
      </p:pic>
      <p:pic>
        <p:nvPicPr>
          <p:cNvPr id="11" name="Picture 10" descr="Black And White Gradient Background">
            <a:extLst>
              <a:ext uri="{FF2B5EF4-FFF2-40B4-BE49-F238E27FC236}">
                <a16:creationId xmlns:a16="http://schemas.microsoft.com/office/drawing/2014/main" id="{B1B53318-FFEA-B5CD-6070-91BB59D335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236" t="-195" r="193" b="220"/>
          <a:stretch>
            <a:fillRect/>
          </a:stretch>
        </p:blipFill>
        <p:spPr>
          <a:xfrm>
            <a:off x="271286" y="1398411"/>
            <a:ext cx="233034" cy="5364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59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E3F9FA-F04D-5A4E-DA32-ED4A9FC590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Thanks for your time!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A76D7C7-5AEE-BBE7-0398-C7B3CBC4C8BE}"/>
              </a:ext>
            </a:extLst>
          </p:cNvPr>
          <p:cNvSpPr txBox="1">
            <a:spLocks/>
          </p:cNvSpPr>
          <p:nvPr/>
        </p:nvSpPr>
        <p:spPr>
          <a:xfrm>
            <a:off x="849982" y="2309436"/>
            <a:ext cx="10268712" cy="15087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Font typeface="Arial" panose="020B0604020202020204" pitchFamily="34" charset="0"/>
              <a:buNone/>
              <a:defRPr sz="3600" kern="1200" spc="5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20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ClrTx/>
              <a:buFont typeface="Wingdings" panose="05000000000000000000" pitchFamily="2" charset="2"/>
              <a:buNone/>
              <a:defRPr sz="16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1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1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>
                <a:solidFill>
                  <a:schemeClr val="tx1"/>
                </a:solidFill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803570672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VTI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JuxtaposeVTI">
      <a:majorFont>
        <a:latin typeface="Franklin Gothic Demi Cond" panose="020B0706030402020204"/>
        <a:ea typeface=""/>
        <a:cs typeface=""/>
      </a:majorFont>
      <a:minorFont>
        <a:latin typeface="Franklin Gothic Medium" panose="020B0603020102020204"/>
        <a:ea typeface=""/>
        <a:cs typeface=""/>
      </a:minorFont>
    </a:fontScheme>
    <a:fmtScheme name="Juxtapos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B0236716-CA63-41C1-B6AD-997AE15F064B}" vid="{0E0AE8FC-D493-434E-BDCC-ED5FFB2DAE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JuxtaposeVTI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2026-03-02T20:54:40Z</dcterms:created>
  <dcterms:modified xsi:type="dcterms:W3CDTF">2026-03-05T18:26:15Z</dcterms:modified>
</cp:coreProperties>
</file>